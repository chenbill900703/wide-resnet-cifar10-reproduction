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2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27d6c95b294866" /><Relationship Type="http://schemas.openxmlformats.org/officeDocument/2006/relationships/extended-properties" Target="/docProps/app.xml" Id="Rc11f7dc8f48945b4" /><Relationship Type="http://schemas.openxmlformats.org/officeDocument/2006/relationships/officeDocument" Target="/ppt/presentation.xml" Id="R99044fa6b9354c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91f3caee974285"/>
  </p:sldMasterIdLst>
  <p:notesMasterIdLst>
    <p:notesMasterId xmlns:r="http://schemas.openxmlformats.org/officeDocument/2006/relationships" r:id="Rf0528c00fe5646ce"/>
  </p:notesMasterIdLst>
  <p:sldIdLst>
    <p:sldId xmlns:r="http://schemas.openxmlformats.org/officeDocument/2006/relationships" id="256" r:id="Rcd62c8821b674dea"/>
    <p:sldId xmlns:r="http://schemas.openxmlformats.org/officeDocument/2006/relationships" id="257" r:id="R995585ce04fd4511"/>
    <p:sldId xmlns:r="http://schemas.openxmlformats.org/officeDocument/2006/relationships" id="258" r:id="R63e57b7105ae4775"/>
    <p:sldId xmlns:r="http://schemas.openxmlformats.org/officeDocument/2006/relationships" id="259" r:id="R4fda71729ac8456f"/>
    <p:sldId xmlns:r="http://schemas.openxmlformats.org/officeDocument/2006/relationships" id="260" r:id="Rbc232943fa074fe1"/>
    <p:sldId xmlns:r="http://schemas.openxmlformats.org/officeDocument/2006/relationships" id="261" r:id="R59f41377ce174c7e"/>
    <p:sldId xmlns:r="http://schemas.openxmlformats.org/officeDocument/2006/relationships" id="262" r:id="R5e60285213884a31"/>
    <p:sldId xmlns:r="http://schemas.openxmlformats.org/officeDocument/2006/relationships" id="263" r:id="Raf12f2cc31c14faa"/>
    <p:sldId xmlns:r="http://schemas.openxmlformats.org/officeDocument/2006/relationships" id="264" r:id="R91e289f1c4fa4cab"/>
    <p:sldId xmlns:r="http://schemas.openxmlformats.org/officeDocument/2006/relationships" id="265" r:id="R5fa6c1bf1ff348fa"/>
    <p:sldId xmlns:r="http://schemas.openxmlformats.org/officeDocument/2006/relationships" id="266" r:id="R198558f5c4b14ab5"/>
    <p:sldId xmlns:r="http://schemas.openxmlformats.org/officeDocument/2006/relationships" id="267" r:id="R7dfc75e7065f4c7c"/>
    <p:sldId xmlns:r="http://schemas.openxmlformats.org/officeDocument/2006/relationships" id="268" r:id="Ref1e54930ea24ade"/>
    <p:sldId xmlns:r="http://schemas.openxmlformats.org/officeDocument/2006/relationships" id="269" r:id="Rab7e42e14c904fe1"/>
    <p:sldId xmlns:r="http://schemas.openxmlformats.org/officeDocument/2006/relationships" id="270" r:id="Re78b03541b2643f1"/>
    <p:sldId xmlns:r="http://schemas.openxmlformats.org/officeDocument/2006/relationships" id="271" r:id="R268f25b63b724f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2fb2b5aba2445b" /><Relationship Type="http://schemas.openxmlformats.org/officeDocument/2006/relationships/slideMaster" Target="/ppt/slideMasters/slideMaster1.xml" Id="R6f91f3caee974285" /><Relationship Type="http://schemas.openxmlformats.org/officeDocument/2006/relationships/notesMaster" Target="/ppt/notesMasters/notesMaster1.xml" Id="Rf0528c00fe5646ce" /><Relationship Type="http://schemas.openxmlformats.org/officeDocument/2006/relationships/presProps" Target="/ppt/presProps.xml" Id="R9dec2a3b59c2406e" /><Relationship Type="http://schemas.openxmlformats.org/officeDocument/2006/relationships/tableStyles" Target="/ppt/tableStyles.xml" Id="R44f0153e3d854432" /><Relationship Type="http://schemas.openxmlformats.org/officeDocument/2006/relationships/slide" Target="/ppt/slides/slide1.xml" Id="Rcd62c8821b674dea" /><Relationship Type="http://schemas.openxmlformats.org/officeDocument/2006/relationships/slide" Target="/ppt/slides/slide2.xml" Id="R995585ce04fd4511" /><Relationship Type="http://schemas.openxmlformats.org/officeDocument/2006/relationships/slide" Target="/ppt/slides/slide3.xml" Id="R63e57b7105ae4775" /><Relationship Type="http://schemas.openxmlformats.org/officeDocument/2006/relationships/slide" Target="/ppt/slides/slide4.xml" Id="R4fda71729ac8456f" /><Relationship Type="http://schemas.openxmlformats.org/officeDocument/2006/relationships/slide" Target="/ppt/slides/slide5.xml" Id="Rbc232943fa074fe1" /><Relationship Type="http://schemas.openxmlformats.org/officeDocument/2006/relationships/slide" Target="/ppt/slides/slide6.xml" Id="R59f41377ce174c7e" /><Relationship Type="http://schemas.openxmlformats.org/officeDocument/2006/relationships/slide" Target="/ppt/slides/slide7.xml" Id="R5e60285213884a31" /><Relationship Type="http://schemas.openxmlformats.org/officeDocument/2006/relationships/slide" Target="/ppt/slides/slide8.xml" Id="Raf12f2cc31c14faa" /><Relationship Type="http://schemas.openxmlformats.org/officeDocument/2006/relationships/slide" Target="/ppt/slides/slide9.xml" Id="R91e289f1c4fa4cab" /><Relationship Type="http://schemas.openxmlformats.org/officeDocument/2006/relationships/slide" Target="/ppt/slides/slide10.xml" Id="R5fa6c1bf1ff348fa" /><Relationship Type="http://schemas.openxmlformats.org/officeDocument/2006/relationships/slide" Target="/ppt/slides/slide11.xml" Id="R198558f5c4b14ab5" /><Relationship Type="http://schemas.openxmlformats.org/officeDocument/2006/relationships/slide" Target="/ppt/slides/slide12.xml" Id="R7dfc75e7065f4c7c" /><Relationship Type="http://schemas.openxmlformats.org/officeDocument/2006/relationships/slide" Target="/ppt/slides/slide13.xml" Id="Ref1e54930ea24ade" /><Relationship Type="http://schemas.openxmlformats.org/officeDocument/2006/relationships/slide" Target="/ppt/slides/slide14.xml" Id="Rab7e42e14c904fe1" /><Relationship Type="http://schemas.openxmlformats.org/officeDocument/2006/relationships/slide" Target="/ppt/slides/slide15.xml" Id="Re78b03541b2643f1" /><Relationship Type="http://schemas.openxmlformats.org/officeDocument/2006/relationships/slide" Target="/ppt/slides/slide16.xml" Id="R268f25b63b724f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34a104cda049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49e97428f2420c" /><Relationship Type="http://schemas.openxmlformats.org/officeDocument/2006/relationships/notesMaster" Target="/ppt/notesMasters/notesMaster1.xml" Id="R066bc0868b184b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5ec4c76b4c4afc" /><Relationship Type="http://schemas.openxmlformats.org/officeDocument/2006/relationships/notesMaster" Target="/ppt/notesMasters/notesMaster1.xml" Id="R0772455f62ad41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f6f67960464053" /><Relationship Type="http://schemas.openxmlformats.org/officeDocument/2006/relationships/notesMaster" Target="/ppt/notesMasters/notesMaster1.xml" Id="Rc50deb67f5b341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961e00b454439c" /><Relationship Type="http://schemas.openxmlformats.org/officeDocument/2006/relationships/notesMaster" Target="/ppt/notesMasters/notesMaster1.xml" Id="R3d4ae80c9a3b49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515c68acfc4af1" /><Relationship Type="http://schemas.openxmlformats.org/officeDocument/2006/relationships/notesMaster" Target="/ppt/notesMasters/notesMaster1.xml" Id="R4d48a0a1bed64b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50371d974741a3" /><Relationship Type="http://schemas.openxmlformats.org/officeDocument/2006/relationships/notesMaster" Target="/ppt/notesMasters/notesMaster1.xml" Id="R5aaaebeac30e4c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004e8348d14fc2" /><Relationship Type="http://schemas.openxmlformats.org/officeDocument/2006/relationships/notesMaster" Target="/ppt/notesMasters/notesMaster1.xml" Id="Rc80ed4a3cd7c46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75171d132945bc" /><Relationship Type="http://schemas.openxmlformats.org/officeDocument/2006/relationships/notesMaster" Target="/ppt/notesMasters/notesMaster1.xml" Id="Rb51fde5718c143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d5009b6163482c" /><Relationship Type="http://schemas.openxmlformats.org/officeDocument/2006/relationships/notesMaster" Target="/ppt/notesMasters/notesMaster1.xml" Id="Ra0dd32d644bd4d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dd53cd246b4a69" /><Relationship Type="http://schemas.openxmlformats.org/officeDocument/2006/relationships/notesMaster" Target="/ppt/notesMasters/notesMaster1.xml" Id="R8fd202561f9241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5da24615b34e18" /><Relationship Type="http://schemas.openxmlformats.org/officeDocument/2006/relationships/notesMaster" Target="/ppt/notesMasters/notesMaster1.xml" Id="R6579710f769149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f65bb707ae49be" /><Relationship Type="http://schemas.openxmlformats.org/officeDocument/2006/relationships/notesMaster" Target="/ppt/notesMasters/notesMaster1.xml" Id="R2103ece759a6400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5e6e310c12d4557" /><Relationship Type="http://schemas.openxmlformats.org/officeDocument/2006/relationships/notesMaster" Target="/ppt/notesMasters/notesMaster1.xml" Id="R2410b54b8c68498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0d155ce3e874f6e" /><Relationship Type="http://schemas.openxmlformats.org/officeDocument/2006/relationships/notesMaster" Target="/ppt/notesMasters/notesMaster1.xml" Id="Rfeff992316594fe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3148d9ab20f4c12" /><Relationship Type="http://schemas.openxmlformats.org/officeDocument/2006/relationships/notesMaster" Target="/ppt/notesMasters/notesMaster1.xml" Id="Rc4c556a9a41b487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8ded44ed8ee47fa" /><Relationship Type="http://schemas.openxmlformats.org/officeDocument/2006/relationships/notesMaster" Target="/ppt/notesMasters/notesMaster1.xml" Id="R4ebe8e3850cd40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各位老師好，我的題目是 Wide Residual Networks 在 CIFAR-10 上的重現研究。我選定的正式 target 是 WRN-16-8、mean/std normalization、no dropout，對應 arXiv v4 Table 5。這份工作不只是把模型跑出一個 accuracy，而是建立從論文、作者程式碼、歷史 dependency，到 frozen config、五次正式執行與結果 hash 的完整證據鏈。最後的五-run median test error 是 4.40%，論文參考值是 4.27%。接下來我會先說明 WRN 的核心，再交代 protocol、結果與限制。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避免過度宣稱：不要在開場說「完全重現論文」或「證明論文正確」。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轉場：先從為什麼值得重現 WRN 開始。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references/wide_residual_networks.pdf, p.8 Table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configs/wrn16_8_arxiv_v4_frozen.yaml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formal baseline 225cf8d44c36a8a210f6989bf76b9ebfe460adbd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WRN 的研究背景是 residual learning 已經讓很深的 network 可以訓練，但持續加深會增加序列計算成本，而且每一層可能相對窄。WRN 的核心問題是：如果把 capacity 從 depth 部分轉移到 width，能不能用較淺、較寬的 residual network 得到更好的效率與表現權衡。它很適合做 reproduction，因為表面上 model name 很簡單，但真正影響結果的 block routing、normalization、optimizer semantics、seed 和 aggregation 都分散在不同證據來源。也就是說，它可以測試我們能不能把一篇經典論文轉成可稽核的現代 protocol。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避免過度宣稱：不要說 width 在所有任務都比 depth 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轉場：下一頁把論文的 width-versus-depth 主張拆開。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references/wide_residual_networks.pdf, abstract and sections 1–3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這一頁的重點不是把 WRN 說成「加很多 channel」而已。Residual block 的 shortcut 仍然保留，改變的是 residual branch 的寬度。論文以 widening factor `k` 表示這個擴張；對 CIFAR 架構，stage widths 是 16、16k、32k、64k。增加 width 能提高每個 block 的 feature capacity，也更容易利用 GPU 的平行計算。相對地，單純增加 depth 會拉長 sequential path。我要強調，這是論文在它的模型與實驗範圍內提出並驗證的設計主張，不是 width 永遠優於 depth 的一般定理。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避免過度宣稱：不要把 empirical argument 說成數學定理。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轉場：有了這個概念後，下一頁定義本專案究竟重現哪一個表格 cell。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references/wide_residual_networks.pdf, p.4 Table 1 and sections 3–4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 target 完整名稱是 WRN16-8-CIFAR10-ARXIV-V4-MEANSTD-NODROPOUT-V1。它綁定 arXiv v4、Table 5、CIFAR-10、WRN-16-8、mean/std preprocessing、dropout 0、五次執行的 median。論文參考 test error 是 4.27%，表中參數量是四捨五入的一位小數 11.0M。本實作精確 trainable parameter count 是 10,961,370，也就是 10.96137M，四捨五入後與 11.0M 一致。這個 target、config 和 SHA 都在正式訓練前凍結，避免看到結果後改問題。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避免過度宣稱：parameter count 對上不等於所有 training semantics 都完全相同。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轉場：下一頁看 10,961,370 個參數如何分布在 WRN-16-8 架構。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references/wide_residual_networks.pdf, p.8 Table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configs/wrn16_8_arxiv_v4_frozen.yaml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docs/reproduction_spec.md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`16-8` 的 16 是 nominal depth，8 是 widening factor。CIFAR WRN 使用 `n=6N+4`，所以 `N=(16-4)/6=2`，也就是三個 residual groups 各有兩個 `B(3,3)` blocks。32×32 input 先經 16-channel stem；Group 1 是 128 channels、維持 32×32；Group 2 是 256、降到 16×16；Group 3 是 512、降到 8×8。最後經 BN、ReLU、global average pooling 和 10-class classifier。dimension-changing shortcut 與 pre-activation routing 依 frozen official Torch7 evidence 實作和測試；我不把這些 micro-semantics 全部冒充成 Table 5 直接寫出的內容。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避免過度宣稱：不要簡化成每個 stage 只有「兩層」；是每 stage 兩個 `B(3,3)` blocks。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轉場：架構只是第一層，下一頁說明如何管理來源衝突與未知項。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references/wide_residual_networks.pdf, p.4 Table 1 and section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docs/phase1_architecture_validation.md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src/wrn/model.py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我把每個重要決策分為六類。論文直接寫的是 `PAPER-SPECIFIED`；作者 repository 是 `OFFICIAL-CODE-SPECIFIED`；Torch 當年 module defaults 屬於 `HISTORICAL-DEPENDENCY-BACKED`；可由已知輸入算出的數字標 `DERIVED`；來源不能唯一決定的現代 port 行為是 `IMPLEMENTATION-ASSUMPTION`；五次正式跑出的 4.40% 才是 `FORMAL-REPRODUCTION-RESULT`。這個分層的目的，是避免把 PyTorch default 說成論文設定，也避免用結果接近來倒推「一定做對」。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避免過度宣稱：不要說所有數字都來自論文。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轉場：下一頁用 data pipeline 示範，同一流程裡其實同時存在 paper-level 與 code-level evidence。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docs/evidence_table.md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docs/assumptions.md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docs/open_questions.md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docs/reproduction_spec.md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CIFAR-10 是 50,000 train、10,000 test。輸入採 byte scale 0 到 255，channel mean 是 125.3、123.0、113.9，std 是 63.0、62.1、66.7。訓練 augmentation 的凍結順序是 horizontal flip、reflection pad 4、random 32×32 crop，最後 normalization；flip probability 0.5，crop offsets 每個方向是 0 到 8。mean/std family和 moderate augmentation有 paper evidence，但數值尺度、順序與 RNG mapping 屬 official-code或 project-level micro-semantics。每個 one-based epoch number作為 data seed，讓 permutation與augmentation可重播。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避免過度宣稱：不要把 transform 的每個邊界細節都稱為 paper-specified。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轉場：資料固定後，下一頁是 optimizer、schedule 與 exact update accounting。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references/wide_residual_networks.pdf, p.6 section 4.2 and p.8 Table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docs/phase2_data_validation.md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docs/reproduction_spec.md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Optimizer 是 SGD：initial LR 0.1、momentum 0.9、dampening 0、Nesterov true、coupled weight decay 0.0005，而且 scope 是全部 trainable parameters，包含 BN gamma、beta 和 FC bias。Loss 是 mean CrossEntropyLoss，label smoothing 0。Batch size 128、`drop_last=true`，所以每 epoch 是 `floor(50000/128)=390` updates、49,920 sample presentations；200 epochs 合計 78,000 updates。LR 在 one-based epoch 開始時切換：1到59是 .1、60到119是 .02、120到159是 .004、160到200是 .0008。投影片下方的 update ranges是從390推導的 cross-check，不是論文原句。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避免過度宣稱：不要把 390 與 78,000 說成 paper 直接報告。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轉場：有 protocol 還不夠，下一頁說明如何驗證它真的按照定義執行。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configs/wrn16_8_arxiv_v4_frozen.yaml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docs/reproduction_spec.md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docs/phase3_training_validation.md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這個專案把「可重現」拆成可測試的 contract。Architecture有參數量、shape、synthetic forward/backward與initialization tests；optimizer用手算第一、第二步驗證 Nesterov和coupled decay；LR測boundary與global update。Checkpoint不是只存 weights，而是 model、optimizer、momentum、BN buffers、CPU/CUDA RNG與mid-epoch cursor。測試把 uninterrupted run和fresh-process resume做 exact equality比較。最後還在RTX 3070 Ti上做fresh-process deterministic fingerprint與CIFAR GPU preflight。這些證據支持技術有效性，但不等於跨2016與2026環境的bitwise identity。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避免過度宣稱：deterministic 不代表 paper-identical。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轉場：下一頁把正式硬體與 numerical policy 完整攤開。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docs/phase1_architecture_validation.md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docs/phase2_data_validation.md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docs/phase3_training_validation.md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docs/phase4_cuda_validation.md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五個 formal runs使用同一個現代環境：Python 3.11.9、PyTorch 2.13.0加CUDA 12.6、torchvision 0.28.0、cuDNN 91002、driver 591.86，GPU是RTX 3070 Ti，compute capability 8.6。numerical policy是FP32 eager execution，AMP、TF32與torch.compile都關閉；cuDNN benchmark關閉，cuDNN deterministic和deterministic algorithms開啟。這些是本次environment-observed evidence，不是論文硬體設定，也不宣稱和原作者runtime相同。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避免過度宣稱：不要說這台GPU是論文使用或「最適合」WRN的GPU。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轉場：環境固定後，下一頁說正式五次執行如何避免挑seed與事後調參。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docs/phase4_cuda_validation.md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docs/phase5_formal_launch_validation.md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formal run manifest.json files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 code baseline 是完整 commit `225cf8d44c36a8a210f6989bf76b9ebfe460adbd`，frozen YAML SHA開頭是 `18EF6815`。預先登記的 project seeds 是1到5；這五個不是宣稱為paper seeds，而是human-approved assumptions。每個run都必須完成200 epochs、78,000 optimizer updates、resume count 0，結果只取epoch 200 final checkpoint。五個seed逐一取得明示授權，全部完成後才做median；沒有依單一run結果改設定，也沒有排除表現較差的seed。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避免過度宣稱：不要說 seeds 1–5 就是作者原始 seeds。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轉場：下一頁直接看每個 seed 的實際結果，不只展示median。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git commit 225cf8d44c36a8a210f6989bf76b9ebfe460adbd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configs/wrn16_8_arxiv_v4_frozen.yaml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five formal run manifests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這張表是從五個formal `final_result.json`逐一讀取，不是從排序值猜seed mapping。Seed 1是4.41%，Seed 2是4.40%，Seed 3是4.32%，Seed 4是4.28%，Seed 5是4.43%；每次都是10,000張test samples。排序後是4.28、4.32、4.40、4.41、4.43，所以中央值也就是frozen median是4.40%，對應Seed 2，正確9,560、錯誤440。圖上的paper line 4.27只作reference。完整性稽核另外確認45/45 formal artifact hashes、20/20 checkpoints和1,035/1,035 log events全部通過。這些數字證明結果可追溯，不是說hash通過就證明performance等價。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避免過度宣稱：不要把 Seed 4 的4.28%挑成正式結果；預註冊統計量是median。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轉場：下一頁把唯一正式comparison——4.27對4.40——公平地並列。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five formal final_result.json files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five formal checkpoint/hash manifests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docs/formal_median_transcript.json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在相同報告粒度下，paper的five-run median test error是4.27%，reproduction的frozen median是4.40%，純數值差是加0.13 percentage points。這不是相對0.13%，而是percentage-point difference。圖表用從0開始的axis，避免把很小差異視覺放大。最重要的解讀是：專案沒有在執行前核准performance tolerance、equivalence margin或significance test，所以我不把加0.13 pp事後分類成成功、失敗、等價或不顯著。我能主張的是frozen protocol下的technical validity，以及透明的numerical comparison。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避免過度宣稱：不要說「只差0.13所以完全重現」或「0.13不顯著」。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轉場：下一頁把已知差異與可能原因分開，避免事後歸因。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references/wide_residual_networks.pdf, p.8 Table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docs/formal_median_transcript.json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docs/reproduction_spec.md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我把差異分析分成兩層。已知差異包括：本專案是modern PyTorch port而不是原始Torch7 ecosystem；CUDA、cuDNN與hardware不同；project seeds不宣稱是paper seeds；部分micro-semantics必須由author code、historical dependencies與explicit assumptions凍結。可能的contributors則包括floating-point reduction順序、library kernels、未公開的原始runtime細節，以及只有五個runs時的stochastic distribution。這些因素都合理，但沒有做controlled ablation，所以不能說其中任何一項「造成」加0.13 pp。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避免過度宣稱：不要把可能因素說成已證實因果。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轉場：因此最後的成果應該分成「已完成的技術重現」與「仍保留的performance不確定性」。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docs/final_reproduction_report.md, difference analysis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docs/open_questions.md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docs/assumptions.md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這個專案成功完成三件事。第一，把paper、official code、historical dependency與assumptions轉成一份可追溯的frozen specification。第二，把architecture、data、optimizer、LR、checkpoint、RNG、resume與CUDA determinism變成可執行的validation，而不是口頭保證。第三，在同一baseline下完成五個200-epoch formal runs，所有artifacts通過integrity audit，並依預登記rule得到4.40%的median。最保守且準確的結論是：這是一個technically valid、protocol-faithful modern-framework reproduction；它不等於paper-era bitwise replication，也不證明原論文正確。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避免過度宣稱：不要用「完全成功」省略scope。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轉場：最後一頁整理限制，以及這套方法如何延伸到下一篇研究。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docs/phase1_architecture_validation.md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docs/phase2_data_validation.md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docs/phase3_training_validation.md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docs/phase4_cuda_validation.md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docs/phase5_formal_launch_validation.md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docs/final_reproduction_report.md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最大限制是原始Table 5五次run的seed identities、完整Torch7 dependency lock、GPU與kernel environment並未公開，因此不能宣稱trajectory-identical。第二，paper只提供median，沒有individual runs，使我們不能直接做嚴格的statistical equivalence分析。第三，五個runs是為對齊paper aggregation，不足以完整估計performance distribution。下一步我會延用這套evidence-first方法研究DenseNet：重新做paper version與official code lineage、growth rate與transition semantics、dependency defaults、assumption approval與freeze，而不是把WRN結論直接外推。我的最後一句話是：正式median 4.40%，paper 4.27%，差加0.13 pp；證據完整、差異透明、不事後調參。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避免過度宣稱：不要說WRN結果保證DenseNet可重現。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轉場：謝謝老師，接下來我願意從paper evidence、optimizer semantics或formal artifacts任何一層接受提問。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docs/final_reproduction_report.md, limitations and next work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docs/open_questions.md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7e15a0018244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d755928c2a4669" /><Relationship Type="http://schemas.openxmlformats.org/officeDocument/2006/relationships/slideLayout" Target="/ppt/slideLayouts/slideLayout1.xml" Id="R48c9e409d22d4f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c9e409d22d4f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b795a4233434e" /><Relationship Type="http://schemas.openxmlformats.org/officeDocument/2006/relationships/notesSlide" Target="/ppt/notesSlides/notesSlide1.xml" Id="Rbac51838ccf54f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940ba021744df" /><Relationship Type="http://schemas.openxmlformats.org/officeDocument/2006/relationships/notesSlide" Target="/ppt/notesSlides/notesSlide2.xml" Id="R6b9b21a129474c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21ddf32a34a38" /><Relationship Type="http://schemas.openxmlformats.org/officeDocument/2006/relationships/notesSlide" Target="/ppt/notesSlides/notesSlide3.xml" Id="Rfca4a1f8f4ee42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f4c046c384958" /><Relationship Type="http://schemas.openxmlformats.org/officeDocument/2006/relationships/notesSlide" Target="/ppt/notesSlides/notesSlide4.xml" Id="R7c70f7be53694f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97ba2d09f4f48" /><Relationship Type="http://schemas.openxmlformats.org/officeDocument/2006/relationships/notesSlide" Target="/ppt/notesSlides/notesSlide5.xml" Id="Rc9ac2a17459243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7092e046a440b" /><Relationship Type="http://schemas.openxmlformats.org/officeDocument/2006/relationships/notesSlide" Target="/ppt/notesSlides/notesSlide6.xml" Id="Rccd3dcefbb0249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bb0c0a2b74be7" /><Relationship Type="http://schemas.openxmlformats.org/officeDocument/2006/relationships/notesSlide" Target="/ppt/notesSlides/notesSlide7.xml" Id="R5bc792b0862a4d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f9a0673614dbc" /><Relationship Type="http://schemas.openxmlformats.org/officeDocument/2006/relationships/notesSlide" Target="/ppt/notesSlides/notesSlide8.xml" Id="R3910783ad93c42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52341b6cc4800" /><Relationship Type="http://schemas.openxmlformats.org/officeDocument/2006/relationships/notesSlide" Target="/ppt/notesSlides/notesSlide9.xml" Id="R6a0c4aaa204346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d9e22472846a9" /><Relationship Type="http://schemas.openxmlformats.org/officeDocument/2006/relationships/notesSlide" Target="/ppt/notesSlides/notesSlide10.xml" Id="R673d647f0c9841a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669909c0c4328" /><Relationship Type="http://schemas.openxmlformats.org/officeDocument/2006/relationships/notesSlide" Target="/ppt/notesSlides/notesSlide11.xml" Id="Rc0563b70096d43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38a4dbb744676" /><Relationship Type="http://schemas.openxmlformats.org/officeDocument/2006/relationships/chart" Target="/ppt/slides/charts/chart1.xml" Id="R3fe9e21bb9834e38" /><Relationship Type="http://schemas.openxmlformats.org/officeDocument/2006/relationships/notesSlide" Target="/ppt/notesSlides/notesSlide12.xml" Id="Rdb23ebf48ef94cc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ec1a0ee494407" /><Relationship Type="http://schemas.openxmlformats.org/officeDocument/2006/relationships/chart" Target="/ppt/slides/charts/chart2.xml" Id="R08b44c22157f4300" /><Relationship Type="http://schemas.openxmlformats.org/officeDocument/2006/relationships/notesSlide" Target="/ppt/notesSlides/notesSlide13.xml" Id="Re6919a762f41476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00868ddd046d4" /><Relationship Type="http://schemas.openxmlformats.org/officeDocument/2006/relationships/notesSlide" Target="/ppt/notesSlides/notesSlide14.xml" Id="Ra2ce480478a4463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fe4cb71a4464e" /><Relationship Type="http://schemas.openxmlformats.org/officeDocument/2006/relationships/notesSlide" Target="/ppt/notesSlides/notesSlide15.xml" Id="R8e5765a7f49b490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8346879544f54" /><Relationship Type="http://schemas.openxmlformats.org/officeDocument/2006/relationships/notesSlide" Target="/ppt/notesSlides/notesSlide16.xml" Id="Rf471358779f047b1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Formal test error</c:v>
          </c:tx>
          <c:spPr>
            <a:ln xmlns:a="http://schemas.openxmlformats.org/drawingml/2006/main" w="38100">
              <a:solidFill>
                <a:srgbClr val="1769E0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1769E0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 b="1">
                        <a:solidFill>
                          <a:srgbClr val="1769E0"/>
                        </a:solidFill>
                      </a:rPr>
                      <a:t>4.41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 b="1">
                      <a:solidFill>
                        <a:srgbClr val="1769E0"/>
                      </a:solidFill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 b="1">
                        <a:solidFill>
                          <a:srgbClr val="1769E0"/>
                        </a:solidFill>
                      </a:rPr>
                      <a:t>4.40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 b="1">
                      <a:solidFill>
                        <a:srgbClr val="1769E0"/>
                      </a:solidFill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 b="1">
                        <a:solidFill>
                          <a:srgbClr val="1769E0"/>
                        </a:solidFill>
                      </a:rPr>
                      <a:t>4.32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 b="1">
                      <a:solidFill>
                        <a:srgbClr val="1769E0"/>
                      </a:solidFill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 b="1">
                        <a:solidFill>
                          <a:srgbClr val="1769E0"/>
                        </a:solidFill>
                      </a:rPr>
                      <a:t>4.28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 b="1">
                      <a:solidFill>
                        <a:srgbClr val="1769E0"/>
                      </a:solidFill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 b="1">
                        <a:solidFill>
                          <a:srgbClr val="1769E0"/>
                        </a:solidFill>
                      </a:rPr>
                      <a:t>4.43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 b="1">
                      <a:solidFill>
                        <a:srgbClr val="1769E0"/>
                      </a:solidFill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Seed 1</c:v>
              </c:pt>
              <c:pt idx="1">
                <c:v>Seed 2</c:v>
              </c:pt>
              <c:pt idx="2">
                <c:v>Seed 3</c:v>
              </c:pt>
              <c:pt idx="3">
                <c:v>Seed 4</c:v>
              </c:pt>
              <c:pt idx="4">
                <c:v>Seed 5</c:v>
              </c:pt>
            </c:strLit>
          </c:cat>
          <c:val>
            <c:numLit>
              <c:formatCode>0.00</c:formatCode>
              <c:ptCount val="5"/>
              <c:pt idx="0">
                <c:v>4.41</c:v>
              </c:pt>
              <c:pt idx="1">
                <c:v>4.4</c:v>
              </c:pt>
              <c:pt idx="2">
                <c:v>4.32</c:v>
              </c:pt>
              <c:pt idx="3">
                <c:v>4.28</c:v>
              </c:pt>
              <c:pt idx="4">
                <c:v>4.43</c:v>
              </c:pt>
            </c:numLit>
          </c:val>
        </c:ser>
        <c:ser>
          <c:idx val="1"/>
          <c:order val="1"/>
          <c:tx>
            <c:v>Paper 4.27%</c:v>
          </c:tx>
          <c:spPr>
            <a:ln xmlns:a="http://schemas.openxmlformats.org/drawingml/2006/main" w="28575">
              <a:solidFill>
                <a:srgbClr val="B42318"/>
              </a:solidFill>
              <a:prstDash val="dash"/>
            </a:ln>
          </c:spPr>
          <c:marker>
            <c:symbol val="none"/>
          </c:marker>
          <c:cat>
            <c:strLit>
              <c:ptCount val="5"/>
              <c:pt idx="0">
                <c:v>Seed 1</c:v>
              </c:pt>
              <c:pt idx="1">
                <c:v>Seed 2</c:v>
              </c:pt>
              <c:pt idx="2">
                <c:v>Seed 3</c:v>
              </c:pt>
              <c:pt idx="3">
                <c:v>Seed 4</c:v>
              </c:pt>
              <c:pt idx="4">
                <c:v>Seed 5</c:v>
              </c:pt>
            </c:strLit>
          </c:cat>
          <c:val>
            <c:numLit>
              <c:formatCode>0.00</c:formatCode>
              <c:ptCount val="5"/>
              <c:pt idx="0">
                <c:v>4.27</c:v>
              </c:pt>
              <c:pt idx="1">
                <c:v>4.27</c:v>
              </c:pt>
              <c:pt idx="2">
                <c:v>4.27</c:v>
              </c:pt>
              <c:pt idx="3">
                <c:v>4.27</c:v>
              </c:pt>
              <c:pt idx="4">
                <c:v>4.27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07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.5"/>
          <c:min val="4.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526071"/>
                    </a:solidFill>
                  </a:rPr>
                  <a:t>Test error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526071"/>
                  </a:solidFill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071"/>
                </a:solidFill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7DEE7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526071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DEE7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Test error (%)</c:v>
          </c:tx>
          <c:spPr>
            <a:solidFill xmlns:a="http://schemas.openxmlformats.org/drawingml/2006/main">
              <a:srgbClr val="1769E0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0B122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769E0"/>
              </a:solidFill>
            </c:spPr>
          </c:dPt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0B1220"/>
                        </a:solidFill>
                      </a:rPr>
                      <a:t>4.27%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0B1220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1769E0"/>
                        </a:solidFill>
                      </a:rPr>
                      <a:t>4.40%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1769E0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2"/>
              <c:pt idx="0">
                <c:v>Paper median</c:v>
              </c:pt>
              <c:pt idx="1">
                <c:v>Reproduction median</c:v>
              </c:pt>
            </c:strLit>
          </c:cat>
          <c:val>
            <c:numLit>
              <c:formatCode>0.00</c:formatCode>
              <c:ptCount val="2"/>
              <c:pt idx="0">
                <c:v>4.27</c:v>
              </c:pt>
              <c:pt idx="1">
                <c:v>4.4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0B1220"/>
                  </a:solidFill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122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526071"/>
                    </a:solidFill>
                  </a:rPr>
                  <a:t>Test error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526071"/>
                  </a:solidFill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071"/>
                </a:solidFill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7DEE7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DEE7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9F09A1-9266-4DAA-8E43-DA2B183A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FINAL REPRODUCTION EVIDENCE PACKAGE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1F432-F79D-4DA3-AAD1-F2C9B959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7239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4425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425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Wide Residual Networks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4425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425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CIFAR-10 Reproduction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F1A14-FA8E-4E8B-BE2C-606A3BC0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一個先凍結、再執行、可追溯到 artifacts 的五次正式重現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54E84-63F2-4EFF-AFEB-1366562F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952500"/>
            <a:ext cx="476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359FE-A631-4302-9F30-6B0E2276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04925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4.40%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8B4A7-5CB6-4614-8303-76E8651B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9547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frozen five-run median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487FEE-222B-4B70-9382-BF7652E1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28925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4.27%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0D99A-BE20-4735-BF28-3297730C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1947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paper reference · arXiv v4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D521F4-FE35-47C8-8DEA-3D713695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291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A65B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A65B00"/>
                </a:solidFill>
                <a:latin typeface="Microsoft JhengHei"/>
                <a:ea typeface="Microsoft JhengHei"/>
                <a:cs typeface="Microsoft JhengHei"/>
              </a:rPr>
              <a:t>+0.13 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2A2920-BBE9-4B99-A756-0BA34779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149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transparent numerical difference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6CCCD-E571-433A-935D-FDD0E626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91225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26071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526071"/>
                </a:solidFill>
                <a:latin typeface="Consolas"/>
                <a:ea typeface="Consolas"/>
                <a:cs typeface="Consolas"/>
              </a:rPr>
              <a:t>WRN16-8-CIFAR10-ARXIV-V4-MEANSTD-NODROPOUT-V1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106FF6-DE83-4166-95FF-C6392647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9912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2026 · Final defense deck</a:t>
            </a:r>
          </a:p>
        </p:txBody>
      </p:sp>
    </p:spTree>
    <p:extLst>
      <p:ext uri="{BB962C8B-B14F-4D97-AF65-F5344CB8AC3E}">
        <p14:creationId xmlns:p14="http://schemas.microsoft.com/office/powerpoint/2010/main" val="13998828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346059-C30B-4327-A5AF-9CF201B0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WRN CIFAR-10 REPRODUCTION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E761F-E9FA-4887-B418-9624CD56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為什麼值得重現 WRN？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A4B52-9E94-4B49-8652-2D4F0E2E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81000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448F8-1A03-4501-B36E-55D08A07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11307D-9090-4303-AF98-F6BDDB83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D1C54A-57C7-4250-87B7-364A49BE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Paper: arXiv:1605.07146v4, abstract and §1–3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D500C-F0C5-44C3-AD79-30D24E84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研究問題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AABDA7-F8E5-4EA5-822B-81B5D9AC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23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1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475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當 residual network 不再只追求更深，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475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把 capacity 轉向 width，會發生什麼？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79760D-EC69-4A08-B8EC-A74DFE89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5334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>
              <a:lnSpc>
                <a:spcPct val="108000"/>
              </a:lnSpc>
              <a:spcAft>
                <a:spcPts val="17"/>
              </a:spcAft>
              <a:buNone/>
              <a:defRPr sz="165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更深：更長的 sequential path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17"/>
              </a:spcAft>
              <a:buNone/>
              <a:defRPr sz="165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更寬：每個 block 有更高 feature capacity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17"/>
              </a:spcAft>
              <a:buNone/>
              <a:defRPr sz="165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重現難點：paper、code、dependency 與 assumptions 分散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9A0F04-1504-46F9-89E9-7E90EE91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43050"/>
            <a:ext cx="4333875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2CC8EE-1F20-48A5-B2DA-A6A48CBD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85950"/>
            <a:ext cx="166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DEPTH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54CE76-A9C3-40D0-94C1-27FC532B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24100"/>
            <a:ext cx="819150" cy="219075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CF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87B0DE-92E6-4F35-864B-E607BB68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86050"/>
            <a:ext cx="819150" cy="219075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CF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2AAC25-47F3-457C-8564-AF6A6FF8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48000"/>
            <a:ext cx="819150" cy="219075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CF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388FFE-CC0B-4C17-BC1E-E9D662BE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09950"/>
            <a:ext cx="819150" cy="219075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CF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A5FF8C-9EC5-4FDE-8A5F-656BF8AC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71900"/>
            <a:ext cx="819150" cy="219075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CF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C5C91C-4940-4AEC-9331-F9BCF3B6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33850"/>
            <a:ext cx="819150" cy="219075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B7C4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550604-B537-4C86-A2CA-428883AF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95800"/>
            <a:ext cx="819150" cy="219075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B7C4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7815FE-1C02-4880-8538-A1106203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85950"/>
            <a:ext cx="166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WIDTH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30BB71-6F0F-4AEE-AAF7-36B7D11A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0"/>
            <a:ext cx="19621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9FC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D276B6-E2F5-4CD9-8850-CC1417E7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67050"/>
            <a:ext cx="19621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9FC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822352-33CC-4FA7-B1D3-58FBEA72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57600"/>
            <a:ext cx="19621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98376B-06D9-4040-B8E7-28253BE6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48150"/>
            <a:ext cx="19621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9FC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2478DA-9A62-442F-BD8B-85D46B3E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672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同一 residual idea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不同 capacity allocation</a:t>
            </a:r>
          </a:p>
        </p:txBody>
      </p:sp>
    </p:spTree>
    <p:extLst>
      <p:ext uri="{BB962C8B-B14F-4D97-AF65-F5344CB8AC3E}">
        <p14:creationId xmlns:p14="http://schemas.microsoft.com/office/powerpoint/2010/main" val="9061120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776534-E6C6-4B27-BF78-BF272FAE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WRN CIFAR-10 REPRODUCTION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F36F63-3D79-4A43-B80F-94C3FE99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論文核心：不是只追求更深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1C5B0-66B0-4C74-B460-DED60782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81000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928C6-CC5C-457E-BF45-48B876C1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CBFF7-B6B6-4384-82C6-71EF639C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0F005-73FA-4737-A25E-2C6E53D1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Paper: p.4 Table 1; §3–4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9FDCD-FF7C-4CF8-B51A-69B07274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811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Residual learning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7FA5A8-9244-4BAB-A411-6F51E99F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保留 shortcut 與 residual branch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C6B8A-1BF3-4222-A1B9-E701C323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3571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C8E3C-32CD-49C0-B6E8-8EE975B6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1143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B5BCA6-68A4-4272-B1AE-1D4ACDDB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14625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F(x)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7A5155-89E6-42B9-939B-0705D9FE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742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+ 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1CDDC8-99EA-4D02-B1E5-84E397FA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430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533524-B9D9-4280-989C-5C7A6FEF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811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Widening factor 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B14C58-0DCE-4DE2-804F-920C78D9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19350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stem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807DC8-96D3-45BE-9B31-8EF40E4D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62200"/>
            <a:ext cx="857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B8C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1295BD-D573-44B7-89A6-58FB4F5E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193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BEE10F-EABF-433E-9457-48A1BBED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05150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group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D91068-E891-40E6-9FE2-D993BC04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1714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1427F4-5D8F-48C3-9E7C-AF84ECF2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16k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049197-3300-4B67-A078-7CFB91D6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90950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group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D3F089-CE60-467F-8265-80E8BCB3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33800"/>
            <a:ext cx="2667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AC43C5-C6BC-4F90-9B7A-6A3C6F3A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90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32k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3390EC-FF53-415F-8D77-A7237DBF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76750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group 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94AFE1-A7F6-4C23-813F-7E937CD6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9600"/>
            <a:ext cx="3714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CF598B-F9B0-44FB-AED9-13C06CC1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767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64k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414D44-8460-4384-92E3-0D999488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19700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A65B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A65B00"/>
                </a:solidFill>
                <a:latin typeface="Microsoft JhengHei"/>
                <a:ea typeface="Microsoft JhengHei"/>
                <a:cs typeface="Microsoft JhengHei"/>
              </a:rPr>
              <a:t>Empirical design claim — 不是 width 永遠勝過 depth 的定理</a:t>
            </a:r>
          </a:p>
        </p:txBody>
      </p:sp>
    </p:spTree>
    <p:extLst>
      <p:ext uri="{BB962C8B-B14F-4D97-AF65-F5344CB8AC3E}">
        <p14:creationId xmlns:p14="http://schemas.microsoft.com/office/powerpoint/2010/main" val="16404692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DF40EA-BE33-422E-BC80-2C65C201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WRN CIFAR-10 REPRODUCTION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74A7C-85DA-443D-9750-F38AD06F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Formal target：先凍結，再看結果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27112-5183-4508-B371-AAE032EA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81000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4B188F-F1F5-4B77-82A6-DEFF07B3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1E5C14-68F7-4296-96B0-254735D2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9B3B0-A166-4966-9FAC-94E33FF0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Paper: p.8 Table 5 · Frozen YAML SHA: 18EF6815…959B3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293AF-DAF7-4470-BDE5-43E0A968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9526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arXiv v4 · Table 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F4803-D355-4C94-B11D-C9AB5D56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485900"/>
            <a:ext cx="1257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7F7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8F9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B8F9C"/>
                </a:solidFill>
                <a:latin typeface="Microsoft JhengHei"/>
                <a:ea typeface="Microsoft JhengHei"/>
                <a:cs typeface="Microsoft JhengHei"/>
              </a:rPr>
              <a:t>CIFAR-10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C582E1-E058-4D27-85E4-7EFD07ED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485900"/>
            <a:ext cx="13716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9F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rPr>
              <a:t>no dropout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942F00-CA1F-4796-9E6A-9733D022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485900"/>
            <a:ext cx="13525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3D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65B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A65B00"/>
                </a:solidFill>
                <a:latin typeface="Microsoft JhengHei"/>
                <a:ea typeface="Microsoft JhengHei"/>
                <a:cs typeface="Microsoft JhengHei"/>
              </a:rPr>
              <a:t>mean / std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C04386-A734-4489-91E2-23EC7A3A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35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WRN-16-8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739C0B-7B1F-4339-80A7-8135DD39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09900"/>
            <a:ext cx="519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正式比較的唯一 model / data / preprocessing cell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DB7DB3-9B04-4031-84B8-B93874DB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810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B75B09-3A8B-4357-BA6A-A478FBD9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71925"/>
            <a:ext cx="2809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10,961,370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669EDE-43DD-4CBC-BE16-0F091950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62475"/>
            <a:ext cx="2809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exact trainable parameters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ACC08D-A757-44FE-ADC8-B301FA91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386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8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→ 10.96137M → 11.0M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C90F5F-F14B-48FC-8F15-B24FB38D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52650"/>
            <a:ext cx="4476750" cy="3038475"/>
          </a:xfrm>
          <a:prstGeom xmlns:a="http://schemas.openxmlformats.org/drawingml/2006/main" prst="roundRect">
            <a:avLst>
              <a:gd name="adj" fmla="val 376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065CA6-AF0C-4975-9248-48B1833E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457450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PAPER REFERENCE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BF3625-7B9D-4A44-A5BF-BFEB7ACB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87655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585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85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4.27%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5928F2-7D74-4874-A56D-A4F9CC2C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147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five-run median test error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B1FC09-5536-4317-874E-320685CF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52437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3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target、aggregation、checkpoint rule 均在訓練前凍結</a:t>
            </a:r>
          </a:p>
        </p:txBody>
      </p:sp>
    </p:spTree>
    <p:extLst>
      <p:ext uri="{BB962C8B-B14F-4D97-AF65-F5344CB8AC3E}">
        <p14:creationId xmlns:p14="http://schemas.microsoft.com/office/powerpoint/2010/main" val="3053702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55BF89-8CFA-46DA-97D0-FCC0372F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WRN CIFAR-10 REPRODUCTION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10EB9-7564-4B45-92CD-639BDE12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WRN-16-8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2E197-3C88-4C3C-BF8D-3B7A4577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81000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0FB26-F05B-481B-834E-F828EA9E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6057F-2415-4859-BECF-D15599B5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D86A6-5950-4ECF-8131-DECF6A60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Paper: p.4 Table 1, §3 · Project: Phase 1 architecture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C11501-9D77-4401-902F-C61BE81B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9906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k = 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B77D4-E360-409A-A861-0AEE5954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38275"/>
            <a:ext cx="204787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7F7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8F9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B8F9C"/>
                </a:solidFill>
                <a:latin typeface="Microsoft JhengHei"/>
                <a:ea typeface="Microsoft JhengHei"/>
                <a:cs typeface="Microsoft JhengHei"/>
              </a:rPr>
              <a:t>N = (16−4)/6 =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EE6930-4286-491A-98CF-A7664D7E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438275"/>
            <a:ext cx="1143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9F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rPr>
              <a:t>B(3,3)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16DBDC-3A7C-4917-9246-AF9274FF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419475"/>
            <a:ext cx="3143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688C31-A5DB-40B9-B519-B4420BE0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19475"/>
            <a:ext cx="3143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E1C33B-0B02-4D45-8F87-0CDF5A03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41947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B257E8-7FEF-45BB-AB0A-6E45CE17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1947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F9E8A1-C6C2-4BC1-B668-A9DAFA5F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41947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2E5013-08CC-4C43-9215-3AE87543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143000" cy="1476375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F219DA-8721-4FE3-B37E-F7CBB897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Input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83E2F9-F39F-4D75-BB06-B2A75EBA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32×32×3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7713F6-CA68-4844-B6C8-812A4BAA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714625"/>
            <a:ext cx="1143000" cy="1476375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5F0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04BD3B-ABAA-48D2-BFEF-AE071C37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956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21905A-87F3-4A50-BFB4-7D6BA53A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3337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16 ch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32×32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F8B17E-73A3-4AA8-A4E8-3886B876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14625"/>
            <a:ext cx="16764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A48BB3-707C-41DA-A6C9-221B5876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956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Group 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A41FB0-D13E-41CF-A917-9192EA4F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333750"/>
            <a:ext cx="1485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128 ch · 2 blocks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32×32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B91D02-2CE4-478C-979D-B20EC6B2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14625"/>
            <a:ext cx="16764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D8E8F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70E265-89EA-4ED2-B222-6B5126E9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956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Group 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75C145-E0B6-4248-A6BB-7933394F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333750"/>
            <a:ext cx="1485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256 ch · 2 blocks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16×16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339643-BF52-4031-A308-F81F45C3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14625"/>
            <a:ext cx="16764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BFD8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FC6368-EE2F-417D-BC1C-A5D66309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956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Group 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EA29AF-0A6B-4A21-8746-D7E73A33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33750"/>
            <a:ext cx="1485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512 ch · 2 blocks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8×8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473A41-4D14-4716-BCF9-B08C6E13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14625"/>
            <a:ext cx="16764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74769F-6056-4879-AD48-93F2E6AA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956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Head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6D2BEB-7522-4EF4-99D0-DC369613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333750"/>
            <a:ext cx="1485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DDE8F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DDE8F7"/>
                </a:solidFill>
                <a:latin typeface="Microsoft JhengHei"/>
                <a:ea typeface="Microsoft JhengHei"/>
                <a:cs typeface="Microsoft JhengHei"/>
              </a:rPr>
              <a:t>BN · ReLU · GAP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DDE8F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DDE8F7"/>
                </a:solidFill>
                <a:latin typeface="Microsoft JhengHei"/>
                <a:ea typeface="Microsoft JhengHei"/>
                <a:cs typeface="Microsoft JhengHei"/>
              </a:rPr>
              <a:t>10 classes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7524EF-14BA-4493-B042-2A10EF9C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76775"/>
            <a:ext cx="871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Dimension-changing projection / shortcut routing 依 frozen official Torch7 semantics 實作與測試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85D9DB-AB44-4271-B1A5-26F9F59F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2768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Exact parameters  10,961,370</a:t>
            </a:r>
          </a:p>
        </p:txBody>
      </p:sp>
    </p:spTree>
    <p:extLst>
      <p:ext uri="{BB962C8B-B14F-4D97-AF65-F5344CB8AC3E}">
        <p14:creationId xmlns:p14="http://schemas.microsoft.com/office/powerpoint/2010/main" val="21220377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D49E63-4CB3-4AEA-968A-882138F3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WRN CIFAR-10 REPRODUCTION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ABC28-E5F4-4776-AF6D-B01D31EB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Evidence governance：來源不能混在一起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2A3DF-729F-4854-B09A-920EA91D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81000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F0EEC-7C9A-41C6-9B11-411EE8FF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9C35E-7645-4719-8C7B-BCB8C299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63A0E-3EF6-4B4C-BE0D-C6AF17AC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Project: evidence table · assumptions · open questions · frozen spec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A34179-3E7B-43AB-A8E2-A2FD4B2F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514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E9A9CB-E57C-4D45-8DF1-A6DFB6D3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2B78F4-A4F5-4103-860D-4EA73219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695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PAPER-SPECIFIED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751CC-8F73-4DAC-B650-C4A285F9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574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論文直接陳述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765EBC-1653-4C76-A1BF-A762FA16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504950"/>
            <a:ext cx="514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F5CB3-99FF-490E-BBEE-81C65FD6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6212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0B8F9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B8F9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F098B4-542D-4986-B2AF-94BF19BD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695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OFFICIAL-CODE-SPECIFIED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B0A01F-96FE-4B30-BAF0-EB7C8910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0574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作者官方實作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5DB853-5BB5-4AF0-9E32-AF059399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514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9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0F36D9-7811-41BA-ABDE-82F60E3B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EE7CFA-D059-4626-996C-7FCF6146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289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HISTORICAL-DEPENDENCY-BACKED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E85CF5-4D3E-4E37-B58D-5F0B505A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90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paper-era module behavior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8AAFD9-814C-41A5-AD6C-A42E3211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838450"/>
            <a:ext cx="514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7D7D46-3D07-43AA-9FAE-BD30ADDC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9562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A65B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A65B00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7747C4-F2DB-4829-9DB5-E5F572C3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0289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DERIVED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00C9CC-E641-46B8-AD1E-503F9FC3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390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由已知輸入完整計算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E1F907-FA74-4E92-990A-605A3A96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14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F55EA7-2FD9-4504-AFBF-FD94C42A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EF82A4-D592-4071-9E08-3E305011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62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IMPLEMENTATION-ASSUMPTION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4CB43B-86D6-4283-A441-D0510BFB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244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來源未唯一決定；人工核准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0C6120-5D27-48C7-ACFF-5552C76F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171950"/>
            <a:ext cx="514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1C3CCF-6DFA-4179-8651-CB9BB501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2912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6046C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6046C9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B4ABDE-387F-4EE8-9C29-3785FA61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362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FORMAL-REPRODUCTION-RESULT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154D87-91DC-4FFB-86BB-985422AA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7244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五個正式 runs 的觀測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AE3C2D-B85F-4D68-8303-A4BC20F0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UNKNOWN 就標 UNKNOWN；來源衝突先分列，不自行融合。</a:t>
            </a:r>
          </a:p>
        </p:txBody>
      </p:sp>
    </p:spTree>
    <p:extLst>
      <p:ext uri="{BB962C8B-B14F-4D97-AF65-F5344CB8AC3E}">
        <p14:creationId xmlns:p14="http://schemas.microsoft.com/office/powerpoint/2010/main" val="16470264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CBE9BF-3621-482A-8004-F70C1A8A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WRN CIFAR-10 REPRODUCTION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5C7E7-BEEF-40E9-B32C-7FE662D9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CIFAR-10 data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C75CE2-9F6C-429E-81F1-BDB9622F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81000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6C1CBC-68ED-4DEA-9B73-6A55AAAA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74C31-877C-4E0C-AEA6-8BB50FA1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D3EC5-7DC3-4811-90A6-DEAB9168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Paper: p.6 §4.2, p.8 Table 5 · Project: Phase 2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D96F3-C744-47B7-8C67-66ED17F6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50,000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3CB34-CDE3-4633-BA26-099E7EC0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train samples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09FEAA-8116-42CA-ACA5-FA61B619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495425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10,000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018197-2DE2-44F5-AE6D-5E2267FE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8597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test samples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8D8667-BA39-44D6-B018-AAE7A372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2862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9BB2AC-C050-4B6F-977A-AA05BB2F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62300"/>
            <a:ext cx="3667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BYTE-SCALE NORMALIZATION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79A99F-5A03-45F0-8C91-8E196789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mean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415B26-14DE-42B2-80DA-EFF34996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64807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425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125.3   123.0   113.9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862490-83C8-4ABD-9036-EFF76862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std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D6E4E7-9058-4D41-A65B-9BF38204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25767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425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63.0     62.1     66.7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9D4982-9ED8-459E-9CA7-BF12D5E2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33950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input range 0…255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33EAA2-8EC1-438F-9837-92321E68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05050"/>
            <a:ext cx="47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FD4B11-13D4-4805-9F05-E4B833CE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57350"/>
            <a:ext cx="4857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8B3BA1-3784-4347-9288-616AE073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00225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0E184F-8E76-4657-9E3C-F460B311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716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horizontal flip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9D5497-2F47-400B-B1CD-50AB8D15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p = 0.5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5A9DDB-5599-4B84-9AC1-B55FFB6F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67075"/>
            <a:ext cx="47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759D68-24CB-4A84-862D-0104A83A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19375"/>
            <a:ext cx="4857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85485C-D103-48F0-8E98-10F8C5DE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6225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AB611F-688D-4450-BECF-7CC5B52F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3367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reflection pad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53AB8D-9A69-4EF5-BC08-AE307750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03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4 px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DCEA88-7021-4488-B865-CA481FD4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29100"/>
            <a:ext cx="47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B6A402-72AF-4392-A746-6BAF7549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81400"/>
            <a:ext cx="4857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422A42-6F4D-458E-9310-B85241C1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24275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0C2A0E-7EF6-401F-8547-82E17FAD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957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random crop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E31CFB-309E-47C5-8968-F42EDFD7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624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32×32 · offsets 0…8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33BB81-8EB6-41AC-B7F5-8F6E6DEE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43425"/>
            <a:ext cx="4857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CFA560-040B-4353-9591-33138E85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68630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330196-B4CF-4A99-8A7A-FCAB92B7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577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normalize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CAF4C9-1EF6-45CB-98B0-BCAAFB71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2442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DCE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DCEAFF"/>
                </a:solidFill>
                <a:latin typeface="Microsoft JhengHei"/>
                <a:ea typeface="Microsoft JhengHei"/>
                <a:cs typeface="Microsoft JhengHei"/>
              </a:rPr>
              <a:t>mean / std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D3161F-A383-41B0-8711-557B5B96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435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B8F9C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B8F9C"/>
                </a:solidFill>
                <a:latin typeface="Consolas"/>
                <a:ea typeface="Consolas"/>
                <a:cs typeface="Consolas"/>
              </a:rPr>
              <a:t>epoch data seed = one-based epoch number</a:t>
            </a:r>
          </a:p>
        </p:txBody>
      </p:sp>
    </p:spTree>
    <p:extLst>
      <p:ext uri="{BB962C8B-B14F-4D97-AF65-F5344CB8AC3E}">
        <p14:creationId xmlns:p14="http://schemas.microsoft.com/office/powerpoint/2010/main" val="3591006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8C66E75-3D1E-492E-880F-B30641DB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WRN CIFAR-10 REPRODUCTION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95213-E08B-450E-AECA-EA5AEF8F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Training protocol 與 LR schedule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CFF11-D93E-4381-BC03-09C63A3B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81000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949FE-6A37-45E8-99AE-3D5459D8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FC37C-728E-4395-922C-F1644F9F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D7841-8BDE-41FB-8231-C3F4027E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Frozen config · Phase 3 optimizer/LR boundary validation · update ranges are DERIVED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EE70A-F733-4EF3-83AD-031B84B0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0957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18D1C-B24B-428D-82EA-CA5D4D8D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90700"/>
            <a:ext cx="338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OPTIMIZER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D1F45-190C-49D0-9D83-1F42E79F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180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SGD · Nesterov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E0CBFF-1BA2-4403-8858-533725C7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247900"/>
            <a:ext cx="1762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true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E0DAF6-21F6-4826-A64B-3905FDD4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47950"/>
            <a:ext cx="180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LR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D5097B-0A85-4386-8AD0-2632F02B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47950"/>
            <a:ext cx="1762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0.1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5B4EB0-8241-41F7-8F7C-0141D77B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48000"/>
            <a:ext cx="180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momentum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C1721-18B3-40AE-B6B1-5F7560AC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48000"/>
            <a:ext cx="1762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0.9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069409-413B-49CE-8012-3FFC9355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48050"/>
            <a:ext cx="180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weight decay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BBCE00-F7B9-42EB-8DF0-C5EC1836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48050"/>
            <a:ext cx="1762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0.0005 · coupled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922CE5-9E52-4B0F-B768-397FE07D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48100"/>
            <a:ext cx="180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scope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BFE13A-A595-415F-A075-CB8347F3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848100"/>
            <a:ext cx="1762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26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all trainable parameters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3FFBED-85F8-48C1-92F7-8473D04F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48150"/>
            <a:ext cx="180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batch / drop_last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1EB631-1A76-4196-8072-04615743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248150"/>
            <a:ext cx="1762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128 / true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B3A676-43CD-4AA9-A6D0-3F2E6840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48200"/>
            <a:ext cx="180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loss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ED8ABD-4140-42F0-B19E-88AB00C3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48200"/>
            <a:ext cx="1762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CrossEntropy · mean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EA1C47-1E0D-4800-922D-8ABEBABD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76875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390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BF15BC-F938-41FF-BDA2-C487F7E1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02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updates / epoch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BF43EF-B6D7-48E9-A482-1B5C017C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76875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28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2325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78,000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F01E80-9ED5-4A02-A16D-993D4FFB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7692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total updates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4D9531-E88F-474D-86D9-777A0901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571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LR APPLIED AT START OF ONE-BASED EPOCH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0AC9CF-38FF-4B1A-8BAC-07D6E74D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38375"/>
            <a:ext cx="1762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8FC0EF-3D33-405E-A3EC-2D74A41E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81250"/>
            <a:ext cx="16859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1–59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BD835C-0C3A-445A-9041-2504F19F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05100"/>
            <a:ext cx="1685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0.1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08408E-A303-48CD-9A43-817F5BA5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0517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526071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526071"/>
                </a:solidFill>
                <a:latin typeface="Consolas"/>
                <a:ea typeface="Consolas"/>
                <a:cs typeface="Consolas"/>
              </a:rPr>
              <a:t>1–23,010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B990CE-6743-4A73-AF4B-81707C22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238375"/>
            <a:ext cx="1866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B51D6F-6C65-499B-B5A1-8B91951C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81250"/>
            <a:ext cx="1790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60–119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DC9B77-F64F-4A67-98F7-AFEBE1F1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05100"/>
            <a:ext cx="1790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0.02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06F2C9-6431-40A4-9E64-595C00EF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05175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526071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526071"/>
                </a:solidFill>
                <a:latin typeface="Consolas"/>
                <a:ea typeface="Consolas"/>
                <a:cs typeface="Consolas"/>
              </a:rPr>
              <a:t>23,011–46,410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E69A35-F8BD-48F5-9AAA-F2EB8C5C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238375"/>
            <a:ext cx="1257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015EC5-C045-42E6-8A95-D415C880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381250"/>
            <a:ext cx="1181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120–159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B9AB75-11D1-45F2-B3CE-0BB0CBB5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705100"/>
            <a:ext cx="1181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0.004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E0E07C-5A14-4480-BDE2-927EF8A6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30517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526071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526071"/>
                </a:solidFill>
                <a:latin typeface="Consolas"/>
                <a:ea typeface="Consolas"/>
                <a:cs typeface="Consolas"/>
              </a:rPr>
              <a:t>46,411–62,010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D99F4C-391F-4666-BF7F-48211A55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238375"/>
            <a:ext cx="11334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CA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26E2A6-7514-4BA3-AAED-2FD5B70F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381250"/>
            <a:ext cx="1057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160–200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B7C9FE-B06F-4440-8762-A49820FC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705100"/>
            <a:ext cx="1057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0.0008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55A89C-F115-49B3-8768-5B214B89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305175"/>
            <a:ext cx="1133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526071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526071"/>
                </a:solidFill>
                <a:latin typeface="Consolas"/>
                <a:ea typeface="Consolas"/>
                <a:cs typeface="Consolas"/>
              </a:rPr>
              <a:t>62,011–78,000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A8ECDC2-0853-4289-8E0D-8D1F7270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81200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Epoch boundaries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14B0DF-1C93-464B-9592-65DF4B48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48075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A65B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A65B00"/>
                </a:solidFill>
                <a:latin typeface="Microsoft JhengHei"/>
                <a:ea typeface="Microsoft JhengHei"/>
                <a:cs typeface="Microsoft JhengHei"/>
              </a:rPr>
              <a:t>Derived update ranges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7DBB6B-9190-40BE-8B8F-C469269A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24325"/>
            <a:ext cx="5715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>
              <a:lnSpc>
                <a:spcPct val="108000"/>
              </a:lnSpc>
              <a:spcAft>
                <a:spcPts val="13"/>
              </a:spcAft>
              <a:buNone/>
              <a:defRPr sz="150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49,920 sample presentations / epoch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13"/>
              </a:spcAft>
              <a:buNone/>
              <a:defRPr sz="150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200 epochs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13"/>
              </a:spcAft>
              <a:buNone/>
              <a:defRPr sz="150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label smoothing = 0</a:t>
            </a:r>
          </a:p>
        </p:txBody>
      </p:sp>
    </p:spTree>
    <p:extLst>
      <p:ext uri="{BB962C8B-B14F-4D97-AF65-F5344CB8AC3E}">
        <p14:creationId xmlns:p14="http://schemas.microsoft.com/office/powerpoint/2010/main" val="12304351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570B57-8DC0-4D3F-8B15-236DCD75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WRN CIFAR-10 REPRODUCTION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7AAF8-1DE6-476B-8499-0C0272A3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Reproducibility engineering：把承諾變成測試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79645-9502-401E-8FB0-4BD085D6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81000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8A7778-1C4D-44F8-85DE-793B89AF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961CF-BBE4-4E01-9D0A-709F4799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0C38B-21D4-4116-BE98-94434DFC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Project: Phase 1–4 validation · checkpoint/replay tests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B96CE-8D6F-4945-9962-982BD02F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3143250" cy="3714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AD40F5-26FC-4221-8BB5-FAFB2ECF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716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592D1B-9906-4D70-B2D7-3D41501D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76475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MODEL + OPTIMIZER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22926B-AE92-44CE-AE68-66D9D09E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27051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>
              <a:lnSpc>
                <a:spcPct val="108000"/>
              </a:lnSpc>
              <a:spcAft>
                <a:spcPts val="16"/>
              </a:spcAft>
              <a:buNone/>
              <a:defRPr sz="135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parameter / shape audit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16"/>
              </a:spcAft>
              <a:buNone/>
              <a:defRPr sz="135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synthetic forward + backward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16"/>
              </a:spcAft>
              <a:buNone/>
              <a:defRPr sz="135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analytical SGD steps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16"/>
              </a:spcAft>
              <a:buNone/>
              <a:defRPr sz="135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gradient coverage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DC5146-E180-4150-89D5-2549A292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571625"/>
            <a:ext cx="3143250" cy="3714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4BE670-EC52-4461-9DE2-635E5355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716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0B8F9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B8F9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80342D-22EE-494A-8C87-DC721271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76475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CHECKPOINT + RESUME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6DDA44-AC4B-490C-9C72-F0EFCD4D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990850"/>
            <a:ext cx="27051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>
              <a:lnSpc>
                <a:spcPct val="108000"/>
              </a:lnSpc>
              <a:spcAft>
                <a:spcPts val="16"/>
              </a:spcAft>
              <a:buNone/>
              <a:defRPr sz="135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model + BN buffers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16"/>
              </a:spcAft>
              <a:buNone/>
              <a:defRPr sz="135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optimizer + momentum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16"/>
              </a:spcAft>
              <a:buNone/>
              <a:defRPr sz="135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CPU / CUDA RNG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16"/>
              </a:spcAft>
              <a:buNone/>
              <a:defRPr sz="135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mid-epoch cursor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AC6831-333B-40B8-B23A-88FB7C8B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71625"/>
            <a:ext cx="3143250" cy="3714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9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12AC76-6A6E-4C76-B38B-D71415FD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716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4AB833-958D-4AEA-865E-B81C8B5B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76475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FRESH PROCESS + CUDA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E611D3-9E0D-4479-A118-B0764BF5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90850"/>
            <a:ext cx="27051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>
              <a:lnSpc>
                <a:spcPct val="108000"/>
              </a:lnSpc>
              <a:spcAft>
                <a:spcPts val="16"/>
              </a:spcAft>
              <a:buNone/>
              <a:defRPr sz="135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exact replay fingerprint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16"/>
              </a:spcAft>
              <a:buNone/>
              <a:defRPr sz="135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LR / global-update boundaries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16"/>
              </a:spcAft>
              <a:buNone/>
              <a:defRPr sz="135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RTX 3070 Ti gate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16"/>
              </a:spcAft>
              <a:buNone/>
              <a:defRPr sz="135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CIFAR GPU preflight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60C400-1C44-4E06-A4DC-B521A348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562600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uninterrupted trajectory  =  fresh-process resumed trajectory</a:t>
            </a:r>
          </a:p>
        </p:txBody>
      </p:sp>
    </p:spTree>
    <p:extLst>
      <p:ext uri="{BB962C8B-B14F-4D97-AF65-F5344CB8AC3E}">
        <p14:creationId xmlns:p14="http://schemas.microsoft.com/office/powerpoint/2010/main" val="9554554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C0A6B7-0E32-4A33-8735-22A4ABF5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WRN CIFAR-10 REPRODUCTION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36DC9-EC48-4744-B4D7-121E1BD3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RTX 3070 Ti target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CBD97-73A5-492F-99F7-EDFE3384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81000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51CC2-BB90-42A8-83F6-3A5C5D76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F23C3-ECD5-4555-B1F8-8DC66204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04A990-302C-4D7C-9985-41929D27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Project: Phase 4 CUDA validation · five formal manifests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EB1E5D-FA94-44B8-99CF-344E4010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333875" cy="4019550"/>
          </a:xfrm>
          <a:prstGeom xmlns:a="http://schemas.openxmlformats.org/drawingml/2006/main" prst="roundRect">
            <a:avLst>
              <a:gd name="adj" fmla="val 2844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66C79-7914-4E60-B54E-F1E7D939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57375"/>
            <a:ext cx="3571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8EBB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8EBBFF"/>
                </a:solidFill>
                <a:latin typeface="Microsoft JhengHei"/>
                <a:ea typeface="Microsoft JhengHei"/>
                <a:cs typeface="Microsoft JhengHei"/>
              </a:rPr>
              <a:t>TARGET GPU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F10C60-239A-4753-B0F1-51B04445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361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NVIDIA GeForce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RTX 3070 Ti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F2ADE6-85ED-46EA-86BC-89A2F033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D7E6FB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D7E6FB"/>
                </a:solidFill>
                <a:latin typeface="Consolas"/>
                <a:ea typeface="Consolas"/>
                <a:cs typeface="Consolas"/>
              </a:rPr>
              <a:t>8,589,410,304 bytes VRAM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EBE2B-0D65-48CA-B5B0-414786C7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D7E6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7E6FB"/>
                </a:solidFill>
                <a:latin typeface="Consolas"/>
                <a:ea typeface="Consolas"/>
                <a:cs typeface="Consolas"/>
              </a:rPr>
              <a:t>compute capability 8.6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4B12D9-D13F-4C7D-8431-770129F3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16573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9F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rPr>
              <a:t>Phase 4 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2E0F07-D8EA-4D06-9015-A6D45D18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SOFTWARE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29F27A-436B-424F-9750-C84B23FA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7167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Python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7BC354-0995-4BC4-89FD-BDE71191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716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3.11.9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9FF685-DE22-4FEC-8A82-C850A8D4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14575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F04B6B-655C-4FBB-A1C7-F773B24E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4792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PyTorch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386454-3974-46C4-B29F-FB3AC925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4792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2.13.0+cu126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9CCB7E-B8C3-4275-9083-9A55168D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90825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F13EAC-E7A6-414C-9AB1-14164F97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2417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torchvision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2195FC-8AFE-4AC6-893E-8D90AF7C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9241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0.28.0+cu126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C7AE27-2D17-4CB0-9AE2-BD064AF3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67075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20511A-6D17-450C-849D-6127073F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0042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CUDA / cuDNN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D4C4FC-51B5-42A6-83B4-73BC0EEE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0042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12.6 / 91002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A746AB-8192-44DC-B80F-054670B5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43325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967DB5-3CF3-4ADA-B52F-021D2284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7667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NVIDIA driver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ED6C44-FB41-4C83-A1BB-725A98ED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8766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591.86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790CD7-1709-4155-8C6F-3BCBFA66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19575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28BB78-FB6F-41C0-B7EA-B1FB03AB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243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NUMERICAL POLICY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196B53-B2BF-4797-8E32-C0886670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86325"/>
            <a:ext cx="155257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9F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rPr>
              <a:t>FP32 eager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C4FA94-B6DB-4D0D-9B9E-13177919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86325"/>
            <a:ext cx="155257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AMP off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FF9F70-77D7-4DFB-A942-255A019E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86325"/>
            <a:ext cx="155257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TF32 off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820699-4674-4279-B2F2-D7D8B46C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334000"/>
            <a:ext cx="155257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compile off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91D368-4CA6-4572-B8EA-B01F7E52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34000"/>
            <a:ext cx="155257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9F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rPr>
              <a:t>deterministic on</a:t>
            </a:r>
          </a:p>
        </p:txBody>
      </p:sp>
    </p:spTree>
    <p:extLst>
      <p:ext uri="{BB962C8B-B14F-4D97-AF65-F5344CB8AC3E}">
        <p14:creationId xmlns:p14="http://schemas.microsoft.com/office/powerpoint/2010/main" val="7306218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EEA92B-1B16-4B83-B1A8-F8B414B6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WRN CIFAR-10 REPRODUCTION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49DE9-3F1E-44FF-B443-1E0E2ED9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Formal five-run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6FE12-F5E8-43C6-B25D-D0536E69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81000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71C27-E4B4-48C6-9BCB-6CB81DD9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09FC22-FA47-4D91-85DC-22707050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5B3378-38C3-4301-A7C7-6E980405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Baseline 225cf8d… · frozen YAML 18EF6815… · seeds are project assumptions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7D5BF-E7CB-40A2-822D-2D2C1BDA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ONE FROZEN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A9B00-68C0-4658-83E9-A772B05C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14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225cf8d44c36a8a210f6989bf76b9ebfe460adbd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052833-F4D3-479A-8FFE-7D8F5CC1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72443F-7D21-45FF-8365-C08BE470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717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D63FCF-5C19-4C35-96E5-8D32EB5B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050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AAFDC8-A9CC-4737-ACD1-D3573A15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4574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9037A5-DF3C-41DF-881F-6C7998F3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Seed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D5008C-EA6C-4E26-BE34-44BFE58E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686175"/>
            <a:ext cx="1504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200 epochs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1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78,000 updates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1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0 resume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387CE9-9249-41C9-AC7A-1D311751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A2B5AC-77BC-41FF-8983-9C453123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050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AC6355-A240-406F-BA22-E9D69659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574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30F56F-76BE-4B1B-9CA0-F070F12B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276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Seed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70D48A-4868-4C9D-90A8-BAC21997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686175"/>
            <a:ext cx="1504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200 epochs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1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78,000 updates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1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0 resume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7E26A8-66FC-4505-89BD-9DA22BAB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717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2C75A8-F172-45E3-861C-4C6DF840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050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8AA5BA-EA0F-4418-85F6-90BF600A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4574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D0A314-591F-4984-98A1-CCE2D8A0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76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Seed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667530-7668-48C4-A466-44950440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686175"/>
            <a:ext cx="1504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200 epochs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1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78,000 updates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1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0 resume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9D13B2-F128-4EE9-B53F-25EED372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FE4544-E53F-42ED-820E-2FDA10D7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050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277884-9090-4D07-9B6D-010427DE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574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D40311-CEE3-4E7F-8CDA-DA39D791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76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Seed 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921FC1-2C6A-4A59-8773-A2926DC1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686175"/>
            <a:ext cx="1504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200 epochs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1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78,000 updates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1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0 resume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3413DA-66F8-4EE5-847D-78B4F51A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71750"/>
            <a:ext cx="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67C1E8-EBB0-4FD6-8C4F-051CB257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050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D9A765-FD7F-401C-A22C-5AAD5010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4574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A47D11-8BC4-487D-AC5A-182F104C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76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Seed 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179462-1211-4831-96D0-68436BAA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686175"/>
            <a:ext cx="1504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200 epochs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1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78,000 updates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1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0 resume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3864F8-9C6A-422E-B16D-9F198F3B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905375"/>
            <a:ext cx="8477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9DC402-9278-41AE-BE67-D87A9A00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09587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6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epoch_200_final_checkpoint_only   ·   all seeds included   ·   no post-hoc tuning</a:t>
            </a:r>
          </a:p>
        </p:txBody>
      </p:sp>
    </p:spTree>
    <p:extLst>
      <p:ext uri="{BB962C8B-B14F-4D97-AF65-F5344CB8AC3E}">
        <p14:creationId xmlns:p14="http://schemas.microsoft.com/office/powerpoint/2010/main" val="6285822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3311B7-FDB7-4493-8A6E-7386BEB7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WRN CIFAR-10 REPRODUCTION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5807D-BD1F-4094-9E83-B3D3352A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五個正式 runs：完整結果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7D77E9-54D9-40C3-9197-C6B10917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81000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AFE7C-77E9-4482-8A49-EEE7AF5F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5D4182-B023-4E6B-B33C-CFFFFC6F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1446C-9DC4-445E-A79B-02BDA6E6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Formal seed_01–seed_05 results · median transcript SHA 993C9057…C49D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1543050"/>
          <a:ext xmlns:a="http://schemas.openxmlformats.org/drawingml/2006/main" cx="4524375" cy="3028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14375"/>
                <a:gridCol w="1333500"/>
                <a:gridCol w="1190625"/>
                <a:gridCol w="1285875"/>
              </a:tblGrid>
              <a:tr h="50482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Seed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Correct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Error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1220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1220"/>
                          </a:solidFill>
                          <a:latin typeface="Consolas"/>
                          <a:ea typeface="Consolas"/>
                          <a:cs typeface="Consolas"/>
                        </a:rPr>
                        <a:t>9,559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B1220"/>
                          </a:solidFill>
                          <a:latin typeface="Consolas"/>
                          <a:ea typeface="Consolas"/>
                          <a:cs typeface="Consolas"/>
                        </a:rPr>
                        <a:t>4.41%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12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VALID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69E0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69E0"/>
                          </a:solidFill>
                          <a:latin typeface="Consolas"/>
                          <a:ea typeface="Consolas"/>
                          <a:cs typeface="Consolas"/>
                        </a:rPr>
                        <a:t>9,560</a:t>
                      </a:r>
                    </a:p>
                  </a:txBody>
                  <a:tcPr marL="91440" marR="91440" marT="45720" marB="4572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69E0"/>
                          </a:solidFill>
                          <a:latin typeface="Consolas"/>
                          <a:ea typeface="Consolas"/>
                          <a:cs typeface="Consolas"/>
                        </a:rPr>
                        <a:t>4.40%</a:t>
                      </a:r>
                    </a:p>
                  </a:txBody>
                  <a:tcPr marL="91440" marR="91440" marT="45720" marB="4572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69E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MEDIAN</a:t>
                      </a:r>
                    </a:p>
                  </a:txBody>
                  <a:tcPr marL="91440" marR="91440" marT="45720" marB="45720">
                    <a:solidFill>
                      <a:srgbClr val="EAF2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1220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1220"/>
                          </a:solidFill>
                          <a:latin typeface="Consolas"/>
                          <a:ea typeface="Consolas"/>
                          <a:cs typeface="Consolas"/>
                        </a:rPr>
                        <a:t>9,568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B1220"/>
                          </a:solidFill>
                          <a:latin typeface="Consolas"/>
                          <a:ea typeface="Consolas"/>
                          <a:cs typeface="Consolas"/>
                        </a:rPr>
                        <a:t>4.32%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12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VALID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1220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1220"/>
                          </a:solidFill>
                          <a:latin typeface="Consolas"/>
                          <a:ea typeface="Consolas"/>
                          <a:cs typeface="Consolas"/>
                        </a:rPr>
                        <a:t>9,572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B1220"/>
                          </a:solidFill>
                          <a:latin typeface="Consolas"/>
                          <a:ea typeface="Consolas"/>
                          <a:cs typeface="Consolas"/>
                        </a:rPr>
                        <a:t>4.28%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12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VALID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1220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1220"/>
                          </a:solidFill>
                          <a:latin typeface="Consolas"/>
                          <a:ea typeface="Consolas"/>
                          <a:cs typeface="Consolas"/>
                        </a:rPr>
                        <a:t>9,557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B1220"/>
                          </a:solidFill>
                          <a:latin typeface="Consolas"/>
                          <a:ea typeface="Consolas"/>
                          <a:cs typeface="Consolas"/>
                        </a:rPr>
                        <a:t>4.43%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12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VALID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77C804-CEC1-4CFA-965C-CE144BBB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4524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每個 run：200 epochs · 78,000 updates · 0 resume · 10,000 test samples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5638800" y="1562100"/>
          <a:ext xmlns:a="http://schemas.openxmlformats.org/drawingml/2006/main" cx="5715000" cy="3390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fe9e21bb9834e38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A72DEE-DBA3-415D-8E0E-EA0610DF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219700"/>
            <a:ext cx="604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73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Sorted  4.28 · 4.32 · 4.40 · 4.41 · 4.43     →     median 4.40% (Seed 2)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E3DDDB-6976-4765-B02B-AF241816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829300"/>
            <a:ext cx="815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rPr>
              <a:t>45/45 artifacts  ·  20/20 checkpoints  ·  1,035/1,035 log events</a:t>
            </a:r>
          </a:p>
        </p:txBody>
      </p:sp>
    </p:spTree>
    <p:extLst>
      <p:ext uri="{BB962C8B-B14F-4D97-AF65-F5344CB8AC3E}">
        <p14:creationId xmlns:p14="http://schemas.microsoft.com/office/powerpoint/2010/main" val="173355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D33286-6CD7-4344-A59F-80604F15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WRN CIFAR-10 REPRODUCTION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A29DA-287D-49C6-B078-1E925CCB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Paper 4.27% vs reproduction 4.40%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64213-8FC3-480B-9536-257E7E6A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81000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4F6D4B-FB1C-4745-B974-98FC84B0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D4347-6AFC-42EC-AC62-92F3781B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B86D1-793B-4140-B565-82A7DFD2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Paper: arXiv v4 Table 5 · Formal median transcript · no pre-approved tolerance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85800" y="1562100"/>
          <a:ext xmlns:a="http://schemas.openxmlformats.org/drawingml/2006/main" cx="5905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b44c22157f4300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34162C-F96E-48C9-9B3E-433077F6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72125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公平尺度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AC45F-7293-4099-AA2E-3108A92B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09725"/>
            <a:ext cx="3857625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4A591D-390F-4184-BB92-6DF184C5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19300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94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050" b="1">
                <a:solidFill>
                  <a:srgbClr val="A65B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A65B00"/>
                </a:solidFill>
                <a:latin typeface="Microsoft JhengHei"/>
                <a:ea typeface="Microsoft JhengHei"/>
                <a:cs typeface="Microsoft JhengHei"/>
              </a:rPr>
              <a:t>+0.13 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39E1BB-1CE0-4FEF-86C9-936265F3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0987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transparent numerical difference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049D37-6326-4396-8766-C3FC016E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909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rPr>
              <a:t>能說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8D99BB-BAC5-443E-A0D0-9D435006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43325"/>
            <a:ext cx="3000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technical audit PASS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protocol-faithful reproduction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observed median = 4.40%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D80C6B-812D-4D19-9D78-6C47BDBA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149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不能說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F403E6-477A-4E90-8DFB-5B078BCC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67275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performance pass / fail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statistical equivalence / insignificance</a:t>
            </a:r>
          </a:p>
        </p:txBody>
      </p:sp>
    </p:spTree>
    <p:extLst>
      <p:ext uri="{BB962C8B-B14F-4D97-AF65-F5344CB8AC3E}">
        <p14:creationId xmlns:p14="http://schemas.microsoft.com/office/powerpoint/2010/main" val="13747609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4B3BE-C79A-4EA4-8E81-07CFD769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WRN CIFAR-10 REPRODUCTION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F23CDF-6A6C-4762-A969-EACF89E8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為什麼仍可能有差異？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5E9F3C-0248-40B6-8F3A-DB040484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81000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0F041-6D12-4750-81FA-BDCBD87F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6842A-3976-478D-BF31-BCA70DA1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4EBE1-E519-4137-86DA-B93574C8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Project: final difference analysis · open questions · assumptions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E46931-D797-4147-8688-FC3E0FCA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5048250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63DCB7-D0CC-46BA-B593-EA989C5C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57375"/>
            <a:ext cx="442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769E0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769E0"/>
                </a:solidFill>
                <a:latin typeface="Consolas"/>
                <a:ea typeface="Consolas"/>
                <a:cs typeface="Consolas"/>
              </a:rPr>
              <a:t>KNOWN DIFFERENCES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B8363F-8B82-484B-8A78-D67F6E74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390775"/>
            <a:ext cx="44005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>
              <a:lnSpc>
                <a:spcPct val="108000"/>
              </a:lnSpc>
              <a:spcAft>
                <a:spcPts val="18"/>
              </a:spcAft>
              <a:buNone/>
              <a:defRPr sz="150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modern PyTorch port ≠ paper-era Torch7 ecosystem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18"/>
              </a:spcAft>
              <a:buNone/>
              <a:defRPr sz="150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modern CUDA / cuDNN / GPU runtime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18"/>
              </a:spcAft>
              <a:buNone/>
              <a:defRPr sz="150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project seeds ≠ claimed paper seeds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18"/>
              </a:spcAft>
              <a:buNone/>
              <a:defRPr sz="150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部分 micro-semantics 來自 code / dependencies / assumptions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B27A61-5185-4B77-9901-1E975921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71625"/>
            <a:ext cx="5048250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A38388-6004-464A-A607-3FFDF9BF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57375"/>
            <a:ext cx="442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A65B00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A65B00"/>
                </a:solidFill>
                <a:latin typeface="Consolas"/>
                <a:ea typeface="Consolas"/>
                <a:cs typeface="Consolas"/>
              </a:rPr>
              <a:t>POSSIBLE CONTRIBUTORS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ACF27E-31B2-496B-B889-EC7F0121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390775"/>
            <a:ext cx="44005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>
              <a:lnSpc>
                <a:spcPct val="108000"/>
              </a:lnSpc>
              <a:spcAft>
                <a:spcPts val="18"/>
              </a:spcAft>
              <a:buNone/>
              <a:defRPr sz="150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floating-point reduction order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18"/>
              </a:spcAft>
              <a:buNone/>
              <a:defRPr sz="150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library kernels 與算法選擇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18"/>
              </a:spcAft>
              <a:buNone/>
              <a:defRPr sz="150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未公開的 original runtime details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18"/>
              </a:spcAft>
              <a:buNone/>
              <a:defRPr sz="150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五-run stochastic distribution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A36D5A-971C-4774-966B-FADF1320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578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沒有 controlled ablation → 不把任何單一因素宣稱為 +0.13 pp 的原因</a:t>
            </a:r>
          </a:p>
        </p:txBody>
      </p:sp>
    </p:spTree>
    <p:extLst>
      <p:ext uri="{BB962C8B-B14F-4D97-AF65-F5344CB8AC3E}">
        <p14:creationId xmlns:p14="http://schemas.microsoft.com/office/powerpoint/2010/main" val="16531531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54EF43-BE0E-473E-B086-8B6C2CB8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WRN CIFAR-10 REPRODUCTION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BA90C-8623-46D7-88A2-7E19D9C2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技術上完成了什麼？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1874D2-6217-4E1E-904F-F0974FFF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81000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E43E17-FD33-4E14-8C59-0BB34EE5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66FBE-F996-44F1-ADD4-35FE4D4C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0D676-164F-4F87-B40C-18834A3B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Project: Phase 1–5 validation · final evidence audit 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14CFE-A0B2-4B3C-819E-0E057A42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572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CABD1F-2A5E-4D84-9566-06C9D96B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7165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8116D-C79F-4CD1-92D2-B80A0ED5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9545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29B8D4-61A7-4F99-A700-E0D55720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38350"/>
            <a:ext cx="890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paper / code / dependency / assumption 分級並凍結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38F018-828B-4B20-A944-F61E02D3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572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DF1A8D-8ACE-46AB-952F-F4347907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0B8F9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B8F9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9851DD-A352-48C7-B02D-5E5C15BC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9085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7787B4-B78A-4FD3-A05B-7EF9C08D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33750"/>
            <a:ext cx="890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architecture / optimizer / LR / RNG / resume / CUDA 可執行驗證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D0C60B-FAE6-4591-849C-ED262B97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572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C1B377-81FC-4F5F-82AA-D51BA5D7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6A1EC4-9A57-4CA4-90D4-3C2BE8C8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8625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FORMAL RUNS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95F600-5CAD-45A2-B089-BD0C2E9D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29150"/>
            <a:ext cx="890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5 × 200 epochs · all artifacts integrity-checked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F0A2E2-FDFA-4EC3-AC74-D12E30FE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572125"/>
            <a:ext cx="9144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1684C8-A5B8-4D99-9BA3-314F548C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76900"/>
            <a:ext cx="871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technically valid  ·  protocol-faithful  ·  transparently compared</a:t>
            </a:r>
          </a:p>
        </p:txBody>
      </p:sp>
    </p:spTree>
    <p:extLst>
      <p:ext uri="{BB962C8B-B14F-4D97-AF65-F5344CB8AC3E}">
        <p14:creationId xmlns:p14="http://schemas.microsoft.com/office/powerpoint/2010/main" val="90615041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DE2153-A85B-4AD1-8998-A7D44B67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WRN CIFAR-10 REPRODUCTION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C1CE4-EA97-49A1-82CA-7A7C9CDB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Limitations 與下一步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8D730-9960-4F44-B1A3-A3AF37C2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81000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E88E59-C88C-4CBA-8C09-B264B7AC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ABF18-9573-473B-BF9B-CFBFEBF3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DC9AF5-624B-4FC5-BAFE-C610F7FC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Project: final report limitations / next work · future work is methodological inference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A6DE1-1848-4825-8BBB-0E3E7F5F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35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B42318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B42318"/>
                </a:solidFill>
                <a:latin typeface="Consolas"/>
                <a:ea typeface="Consolas"/>
                <a:cs typeface="Consolas"/>
              </a:rPr>
              <a:t>LIMITATIONS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D78592-097C-467B-A430-213F1B5A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143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>
              <a:lnSpc>
                <a:spcPct val="108000"/>
              </a:lnSpc>
              <a:spcAft>
                <a:spcPts val="18"/>
              </a:spcAft>
              <a:buNone/>
              <a:defRPr sz="1575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原始 five-run seed identities 未公開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18"/>
              </a:spcAft>
              <a:buNone/>
              <a:defRPr sz="1575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paper-era executable runtime 無完整 lock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18"/>
              </a:spcAft>
              <a:buNone/>
              <a:defRPr sz="1575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paper 只有 aggregate median，無 individual runs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18"/>
              </a:spcAft>
              <a:buNone/>
              <a:defRPr sz="1575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five runs 不足以完整估計 stochastic distribution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EDB76-2A38-4375-8247-669E0EB3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85900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BA3C5B-B093-4DC1-877E-6F7622F6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335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47D64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47D64"/>
                </a:solidFill>
                <a:latin typeface="Consolas"/>
                <a:ea typeface="Consolas"/>
                <a:cs typeface="Consolas"/>
              </a:rPr>
              <a:t>NEXT · DENSENET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C150D4-7DD7-43C0-84B6-F2C7E3B3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438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94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延用 evidence-first 方法，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1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重新稽核 connectivity 與 training semantics。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2CAC8-DE5A-48D6-AEFC-AFE05185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1381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9F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rPr>
              <a:t>growth rate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EA934D-CC45-4015-B615-77E6CA65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71850"/>
            <a:ext cx="15430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9F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rPr>
              <a:t>concatenation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F170B8-BE0E-46B2-941B-84FA5F95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371850"/>
            <a:ext cx="120967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9F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rPr>
              <a:t>transition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79B4A1-F582-4457-8483-70F25A5C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76700"/>
            <a:ext cx="442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26071"/>
                </a:solidFill>
                <a:latin typeface="Microsoft JhengHei"/>
                <a:ea typeface="Microsoft JhengHei"/>
                <a:cs typeface="Microsoft JhengHei"/>
              </a:rPr>
              <a:t>不把 WRN 結果直接外推；下一篇重新 freeze。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4E3A9D-2589-46AD-B971-E7F4AE50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287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116951-5699-4E39-9C84-3C3FF47C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86375"/>
            <a:ext cx="985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4.40% observed median  ·  4.27% paper  ·  +0.13 pp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證據完整、差異透明、不事後調參</a:t>
            </a:r>
          </a:p>
        </p:txBody>
      </p:sp>
    </p:spTree>
    <p:extLst>
      <p:ext uri="{BB962C8B-B14F-4D97-AF65-F5344CB8AC3E}">
        <p14:creationId xmlns:p14="http://schemas.microsoft.com/office/powerpoint/2010/main" val="1535906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2026-08-13T15:24:44.2440000Z</dcterms:created>
  <dcterms:modified xsi:type="dcterms:W3CDTF">2026-08-13T15:24:44.2440000Z</dcterms:modified>
</coreProperties>
</file>